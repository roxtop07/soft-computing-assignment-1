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our case study on the Design of an Intelligent Air Conditioning System using Fuzzy Logic for the course STDA2102. This project demonstrates how fuzzy logic enables continuous compressor modulation, optimizing both thermal comfort and energy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introduce the motivation: HVAC is one of the highest energy consumers globally. Conventional bang-bang thermostats cause severe temperature oscillations and mechanical wear, while PID struggles with human comfort perception and non-linearities. Fuzzy logic provides an intuitive, robust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review the scholarly literature: Zadeh's foundational 1965 paper on fuzzy sets, Mamdani's 1975 control paradigm, and ASHRAE Standard 55. We demonstrate how human comfort is inherently fuzzy, and how modern inverter compressors provide the hardware capability to execute fuzzy continuous modulation.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system architecture. Sensors measure temperature and humidity. These crisp readings are fuzzified, evaluated across our 27-rule knowledge base using Mamdani inference, and defuzzified into a crisp compressor modulation speed between 0% and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display the fuzzy membership functions for temperature. Notice how the sets overlap, particularly around the optimal 24°C target, ensuring smooth, non-oscillating actuator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relative humidity. Humidity significantly alters perceived heat index. The fuzzy system incorporates this latent heat factor to modulate cooling even if dry-bulb temperature is near setpoint.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rule matrix. It maps 5 temperature states and 3 humidity states to 6 compressor speeds. An important highlight: at optimal temperature with high humidity, the compressor still runs at medium to achieve active latent dehumidification.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breaks down the mathematical inference mechanism. We use Mamdani minimum clipping, maximum aggregation, and center-of-gravity defuzzification to generate continuous control commands.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3D control surface. It shows the non-linear relationship generated by our rule base. Notice the smooth contour with zero abrupt cliffs, perfectly matching what inverter hardware needs for continuous, quiet operation.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primary validation slide: a 24-hour dynamic thermodynamic simulation comparing the Fuzzy Controller against classical Bang-Bang and PID controllers. Top graph shows room temperature stability; bottom graph shows instantaneous power demand.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the quantitative benchmarks: FLC achieves 24.2% energy savings compared to conventional on-off thermostats, while maintaining a very tight temperature deviation of 0.69°C. Unlike PID, fuzzy logic handles humidity compensation natively without complex gain scheduling.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address practical real-world deployment. The fuzzy algorithm can easily fit onto an ESP32 or STM32 microcontroller. We can precompute the 3D control surface into a lookup table for deterministic execution.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into Course Module 5 (Hybrid Systems): We can integrate Neural Networks (ANFIS) to tune membership functions automatically, or use Genetic Algorithms (Module 4) to optimize the rule 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Fuzzy logic is proven to be an outstanding solution for intelligent air conditioning. It delivers substantial energy savings, superior thermal comfort, and operates smoothly on low-cost embedded hardware.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Here are the primary academic references supporting this case study. I am now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645920"/>
            <a:ext cx="10332720" cy="2743200"/>
          </a:xfrm>
          <a:prstGeom prst="rect">
            <a:avLst/>
          </a:prstGeom>
          <a:noFill/>
        </p:spPr>
        <p:txBody>
          <a:bodyPr wrap="none">
            <a:spAutoFit/>
          </a:bodyPr>
          <a:lstStyle/>
          <a:p>
            <a:pPr algn="l">
              <a:defRPr sz="3600" b="1">
                <a:solidFill>
                  <a:srgbClr val="F8FAFC"/>
                </a:solidFill>
              </a:defRPr>
            </a:pPr>
            <a:r>
              <a:t>Design of an Intelligent Air Conditioning System</a:t>
            </a:r>
            <a:br/>
            <a:r>
              <a:t>Using Fuzzy Logic</a:t>
            </a:r>
          </a:p>
          <a:p>
            <a:br/>
            <a:pPr>
              <a:defRPr sz="1800">
                <a:solidFill>
                  <a:srgbClr val="0EA5E9"/>
                </a:solidFill>
              </a:defRPr>
            </a:pPr>
            <a:r>
              <a:t>Soft Computing (STDA2102) | Case Study &amp; Technical Presentation</a:t>
            </a:r>
          </a:p>
          <a:p>
            <a:br/>
            <a:pPr>
              <a:defRPr sz="1400">
                <a:solidFill>
                  <a:srgbClr val="94A3B8"/>
                </a:solidFill>
              </a:defRPr>
            </a:pPr>
            <a:r>
              <a:t>Student Name: Manish Kumar  |  Degree: B.Tech / M.Tech  |  Date: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Executive Summary &amp; Problem Statement</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400"/>
              </a:spcAft>
              <a:defRPr sz="1500">
                <a:solidFill>
                  <a:srgbClr val="F8FAFC"/>
                </a:solidFill>
              </a:defRPr>
            </a:pPr>
            <a:r>
              <a:t>•  The Global HVAC Energy Challenge: Buildings account for over 40% of global electricity consumption, with HVAC systems consuming over 50% of building energy load.</a:t>
            </a:r>
          </a:p>
          <a:p>
            <a:pPr>
              <a:spcAft>
                <a:spcPts val="1400"/>
              </a:spcAft>
              <a:defRPr sz="1500">
                <a:solidFill>
                  <a:srgbClr val="F8FAFC"/>
                </a:solidFill>
              </a:defRPr>
            </a:pPr>
            <a:r>
              <a:t>•  Limitations of Conventional Thermostats (Bang-Bang): Classical on/off thermostats suffer from frequent cycling, abrupt temperature fluctuations (±2°C hysteresis), and mechanical wear on compressors.</a:t>
            </a:r>
          </a:p>
          <a:p>
            <a:pPr>
              <a:spcAft>
                <a:spcPts val="1400"/>
              </a:spcAft>
              <a:defRPr sz="1500">
                <a:solidFill>
                  <a:srgbClr val="F8FAFC"/>
                </a:solidFill>
              </a:defRPr>
            </a:pPr>
            <a:r>
              <a:t>•  Shortcomings of Standard PID Controllers: PID controllers struggle with non-linear thermal dynamics, variable ambient weather, room occupancy changes, and delayed dead-time response.</a:t>
            </a:r>
          </a:p>
          <a:p>
            <a:pPr>
              <a:spcAft>
                <a:spcPts val="1400"/>
              </a:spcAft>
              <a:defRPr sz="1500">
                <a:solidFill>
                  <a:srgbClr val="F8FAFC"/>
                </a:solidFill>
              </a:defRPr>
            </a:pPr>
            <a:r>
              <a:t>•  Fuzzy Logic Solution: Fuzzy Logic Controllers (FLC) translate human linguistic expertise into mathematical models, providing smooth, multi-variable control without needing complex differential equations of the room thermodynamics.</a:t>
            </a:r>
          </a:p>
          <a:p>
            <a:pPr>
              <a:spcAft>
                <a:spcPts val="1400"/>
              </a:spcAft>
              <a:defRPr sz="1500">
                <a:solidFill>
                  <a:srgbClr val="F8FAFC"/>
                </a:solidFill>
              </a:defRPr>
            </a:pPr>
            <a:r>
              <a:t>•  Key Case Study Result: Our proposed 27-rule Mamdani FLC achieves 24.2% electrical energy reduction compared to on-off systems while maintaining indoor comfort within ±0.69°C.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Theoretical Foundation &amp; Literature Review</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600"/>
              </a:spcAft>
              <a:defRPr sz="1500">
                <a:solidFill>
                  <a:srgbClr val="F8FAFC"/>
                </a:solidFill>
              </a:defRPr>
            </a:pPr>
            <a:r>
              <a:t>•  Foundations of Fuzzy Sets (Lotfi Zadeh, 1965): Introduced degree of truth over the interval [0, 1], bridging crisp digital binary logic with human linguistic approximations.</a:t>
            </a:r>
          </a:p>
          <a:p>
            <a:pPr>
              <a:spcAft>
                <a:spcPts val="1600"/>
              </a:spcAft>
              <a:defRPr sz="1500">
                <a:solidFill>
                  <a:srgbClr val="F8FAFC"/>
                </a:solidFill>
              </a:defRPr>
            </a:pPr>
            <a:r>
              <a:t>•  Mamdani Inference Engine (Ebrahim Mamdani, 1975): Demonstrated fuzzy logic for controlling complex steam engines using intuitive IF-THEN rules and min-max compositional inference.</a:t>
            </a:r>
          </a:p>
          <a:p>
            <a:pPr>
              <a:spcAft>
                <a:spcPts val="1600"/>
              </a:spcAft>
              <a:defRPr sz="1500">
                <a:solidFill>
                  <a:srgbClr val="F8FAFC"/>
                </a:solidFill>
              </a:defRPr>
            </a:pPr>
            <a:r>
              <a:t>•  Thermal Comfort Standards (ASHRAE Standard 55 &amp; Fanger's PMV): Thermal comfort is multi-dimensional—governed by air temperature, relative humidity, air speed, and human metabolic rate. Comfort is fundamentally a fuzzy linguistic concept (e.g. 'a bit chilly' or 'comfortably cool').</a:t>
            </a:r>
          </a:p>
          <a:p>
            <a:pPr>
              <a:spcAft>
                <a:spcPts val="1600"/>
              </a:spcAft>
              <a:defRPr sz="1500">
                <a:solidFill>
                  <a:srgbClr val="F8FAFC"/>
                </a:solidFill>
              </a:defRPr>
            </a:pPr>
            <a:r>
              <a:t>•  Industrial Inverter AC Technology: Modern variable refrigerant flow (VRF) and inverter compressors allow continuous frequency control (10 Hz to 120 Hz), making them the perfect physical plant for continuous fuzzy defuzzification outputs.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System Architecture: Closed-Loop Fuzzy AC Control</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200"/>
              </a:spcAft>
              <a:defRPr sz="1400">
                <a:solidFill>
                  <a:srgbClr val="F8FAFC"/>
                </a:solidFill>
              </a:defRPr>
            </a:pPr>
            <a:r>
              <a:t>•  Sensory Inputs:</a:t>
            </a:r>
            <a:br/>
            <a:r>
              <a:t>   1. Ambient Indoor Temperature (°C) [Sensors: Thermistor / DHT22, Range: 16°C to 36°C]</a:t>
            </a:r>
            <a:br/>
            <a:r>
              <a:t>2. Relative Humidity (%) [Capacitive Hygrometer, Range: 20% to 90%]</a:t>
            </a:r>
          </a:p>
          <a:p>
            <a:pPr>
              <a:spcAft>
                <a:spcPts val="1200"/>
              </a:spcAft>
              <a:defRPr sz="1400">
                <a:solidFill>
                  <a:srgbClr val="F8FAFC"/>
                </a:solidFill>
              </a:defRPr>
            </a:pPr>
            <a:r>
              <a:t>•  Fuzzification Stage:</a:t>
            </a:r>
            <a:br/>
            <a:r>
              <a:t>   Translates raw numerical sensor inputs into linguistic membership vectors using triangular and trapezoidal membership functions.</a:t>
            </a:r>
          </a:p>
          <a:p>
            <a:pPr>
              <a:spcAft>
                <a:spcPts val="1200"/>
              </a:spcAft>
              <a:defRPr sz="1400">
                <a:solidFill>
                  <a:srgbClr val="F8FAFC"/>
                </a:solidFill>
              </a:defRPr>
            </a:pPr>
            <a:r>
              <a:t>•  Rule Base &amp; Knowledge Engine:</a:t>
            </a:r>
            <a:br/>
            <a:r>
              <a:t>   27 domain-expert rules evaluating the thermal enthalpy state using Min-Max T-norm/S-norm compositional operators.</a:t>
            </a:r>
          </a:p>
          <a:p>
            <a:pPr>
              <a:spcAft>
                <a:spcPts val="1200"/>
              </a:spcAft>
              <a:defRPr sz="1400">
                <a:solidFill>
                  <a:srgbClr val="F8FAFC"/>
                </a:solidFill>
              </a:defRPr>
            </a:pPr>
            <a:r>
              <a:t>•  Defuzzification Unit:</a:t>
            </a:r>
            <a:br/>
            <a:r>
              <a:t>   Center of Gravity (Centroid) method converting the aggregated fuzzy area into a crisp, continuous output percentage.</a:t>
            </a:r>
          </a:p>
          <a:p>
            <a:pPr>
              <a:spcAft>
                <a:spcPts val="1200"/>
              </a:spcAft>
              <a:defRPr sz="1400">
                <a:solidFill>
                  <a:srgbClr val="F8FAFC"/>
                </a:solidFill>
              </a:defRPr>
            </a:pPr>
            <a:r>
              <a:t>•  Actuator Outputs:</a:t>
            </a:r>
            <a:br/>
            <a:r>
              <a:t>   1. Inverter Compressor Motor Speed (0% to 100% PWM / Frequency Modulation)</a:t>
            </a:r>
            <a:br/>
            <a:r>
              <a:t>2. Blower Fan Speed (Low, Medium, High)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Fuzzification: Ambient Temperature Partitions</a:t>
            </a:r>
          </a:p>
        </p:txBody>
      </p:sp>
      <p:sp>
        <p:nvSpPr>
          <p:cNvPr id="4" name="TextBox 3"/>
          <p:cNvSpPr txBox="1"/>
          <p:nvPr/>
        </p:nvSpPr>
        <p:spPr>
          <a:xfrm>
            <a:off x="731520" y="1463040"/>
            <a:ext cx="5029200" cy="4754880"/>
          </a:xfrm>
          <a:prstGeom prst="rect">
            <a:avLst/>
          </a:prstGeom>
          <a:noFill/>
        </p:spPr>
        <p:txBody>
          <a:bodyPr wrap="square">
            <a:spAutoFit/>
          </a:bodyPr>
          <a:lstStyle/>
          <a:p/>
          <a:p>
            <a:pPr>
              <a:spcAft>
                <a:spcPts val="1000"/>
              </a:spcAft>
              <a:defRPr sz="1300">
                <a:solidFill>
                  <a:srgbClr val="F8FAFC"/>
                </a:solidFill>
              </a:defRPr>
            </a:pPr>
            <a:r>
              <a:t>• Universe of Discourse: U_temp = [16°C, 36°C]</a:t>
            </a:r>
          </a:p>
          <a:p>
            <a:pPr>
              <a:spcAft>
                <a:spcPts val="1000"/>
              </a:spcAft>
              <a:defRPr sz="1300">
                <a:solidFill>
                  <a:srgbClr val="F8FAFC"/>
                </a:solidFill>
              </a:defRPr>
            </a:pPr>
            <a:r>
              <a:t>• Linguistic Terms: {Very Cold (VC), Cold (C), Optimal (OPT), Warm (W), Hot (H)}</a:t>
            </a:r>
          </a:p>
          <a:p>
            <a:pPr>
              <a:spcAft>
                <a:spcPts val="1000"/>
              </a:spcAft>
              <a:defRPr sz="1300">
                <a:solidFill>
                  <a:srgbClr val="F8FAFC"/>
                </a:solidFill>
              </a:defRPr>
            </a:pPr>
            <a:r>
              <a:t>• Mathematical Definitions: • VC: Trapezoidal [16, 16, 18, 20]</a:t>
            </a:r>
            <a:br/>
            <a:r>
              <a:t>• C: Triangular [18, 21, 23]</a:t>
            </a:r>
            <a:br/>
            <a:r>
              <a:t>• OPT: Triangular [21, 24, 26] (Target setpoint)</a:t>
            </a:r>
            <a:br/>
            <a:r>
              <a:t>• W: Triangular [24, 27, 30]</a:t>
            </a:r>
            <a:br/>
            <a:r>
              <a:t>• H: Trapezoidal [28, 31, 36, 36]</a:t>
            </a:r>
          </a:p>
          <a:p>
            <a:pPr>
              <a:spcAft>
                <a:spcPts val="1000"/>
              </a:spcAft>
              <a:defRPr sz="1300">
                <a:solidFill>
                  <a:srgbClr val="F8FAFC"/>
                </a:solidFill>
              </a:defRPr>
            </a:pPr>
            <a:r>
              <a:t>• Overlap Rationale: Adjacent sets overlap by ~25-30% to guarantee smooth transition without crisp step-discontinuities.</a:t>
            </a:r>
          </a:p>
        </p:txBody>
      </p:sp>
      <p:pic>
        <p:nvPicPr>
          <p:cNvPr id="5" name="Picture 4" descr="membership_temperature.png"/>
          <p:cNvPicPr>
            <a:picLocks noChangeAspect="1"/>
          </p:cNvPicPr>
          <p:nvPr/>
        </p:nvPicPr>
        <p:blipFill>
          <a:blip r:embed="rId2"/>
          <a:stretch>
            <a:fillRect/>
          </a:stretch>
        </p:blipFill>
        <p:spPr>
          <a:xfrm>
            <a:off x="5943600" y="1463040"/>
            <a:ext cx="5486400" cy="2743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Fuzzification: Relative Humidity Partitions</a:t>
            </a:r>
          </a:p>
        </p:txBody>
      </p:sp>
      <p:sp>
        <p:nvSpPr>
          <p:cNvPr id="4" name="TextBox 3"/>
          <p:cNvSpPr txBox="1"/>
          <p:nvPr/>
        </p:nvSpPr>
        <p:spPr>
          <a:xfrm>
            <a:off x="731520" y="1463040"/>
            <a:ext cx="5029200" cy="4754880"/>
          </a:xfrm>
          <a:prstGeom prst="rect">
            <a:avLst/>
          </a:prstGeom>
          <a:noFill/>
        </p:spPr>
        <p:txBody>
          <a:bodyPr wrap="square">
            <a:spAutoFit/>
          </a:bodyPr>
          <a:lstStyle/>
          <a:p/>
          <a:p>
            <a:pPr>
              <a:spcAft>
                <a:spcPts val="1000"/>
              </a:spcAft>
              <a:defRPr sz="1300">
                <a:solidFill>
                  <a:srgbClr val="F8FAFC"/>
                </a:solidFill>
              </a:defRPr>
            </a:pPr>
            <a:r>
              <a:t>• Universe of Discourse: U_hum = [20%, 90%] Relative Humidity</a:t>
            </a:r>
          </a:p>
          <a:p>
            <a:pPr>
              <a:spcAft>
                <a:spcPts val="1000"/>
              </a:spcAft>
              <a:defRPr sz="1300">
                <a:solidFill>
                  <a:srgbClr val="F8FAFC"/>
                </a:solidFill>
              </a:defRPr>
            </a:pPr>
            <a:r>
              <a:t>• Linguistic Terms: {Low (L), Normal (N), High (H)}</a:t>
            </a:r>
          </a:p>
          <a:p>
            <a:pPr>
              <a:spcAft>
                <a:spcPts val="1000"/>
              </a:spcAft>
              <a:defRPr sz="1300">
                <a:solidFill>
                  <a:srgbClr val="F8FAFC"/>
                </a:solidFill>
              </a:defRPr>
            </a:pPr>
            <a:r>
              <a:t>• Mathematical Definitions: • Low: Trapezoidal [20, 20, 35, 45] %</a:t>
            </a:r>
            <a:br/>
            <a:r>
              <a:t>• Normal: Triangular [35, 50, 65] %</a:t>
            </a:r>
            <a:br/>
            <a:r>
              <a:t>• High: Trapezoidal [55, 70, 90, 90] %</a:t>
            </a:r>
          </a:p>
          <a:p>
            <a:pPr>
              <a:spcAft>
                <a:spcPts val="1000"/>
              </a:spcAft>
              <a:defRPr sz="1300">
                <a:solidFill>
                  <a:srgbClr val="F8FAFC"/>
                </a:solidFill>
              </a:defRPr>
            </a:pPr>
            <a:r>
              <a:t>• Enthalpy Impact: High humidity severely impairs human evaporative cooling. A room at 25°C with 80% humidity feels as oppressive as 29°C at 40% humidity. The fuzzy controller accounts for latent heat load automatically.</a:t>
            </a:r>
          </a:p>
        </p:txBody>
      </p:sp>
      <p:pic>
        <p:nvPicPr>
          <p:cNvPr id="5" name="Picture 4" descr="membership_humidity.png"/>
          <p:cNvPicPr>
            <a:picLocks noChangeAspect="1"/>
          </p:cNvPicPr>
          <p:nvPr/>
        </p:nvPicPr>
        <p:blipFill>
          <a:blip r:embed="rId2"/>
          <a:stretch>
            <a:fillRect/>
          </a:stretch>
        </p:blipFill>
        <p:spPr>
          <a:xfrm>
            <a:off x="5943600" y="1463040"/>
            <a:ext cx="5486400" cy="2743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Fuzzy Rule Base Formulation (Mamdani Model)</a:t>
            </a:r>
          </a:p>
        </p:txBody>
      </p:sp>
      <p:sp>
        <p:nvSpPr>
          <p:cNvPr id="4" name="TextBox 3"/>
          <p:cNvSpPr txBox="1"/>
          <p:nvPr/>
        </p:nvSpPr>
        <p:spPr>
          <a:xfrm>
            <a:off x="731520" y="1371600"/>
            <a:ext cx="10698480" cy="4846320"/>
          </a:xfrm>
          <a:prstGeom prst="rect">
            <a:avLst/>
          </a:prstGeom>
          <a:noFill/>
        </p:spPr>
        <p:txBody>
          <a:bodyPr wrap="square">
            <a:spAutoFit/>
          </a:bodyPr>
          <a:lstStyle/>
          <a:p>
            <a:pPr>
              <a:spcAft>
                <a:spcPts val="1000"/>
              </a:spcAft>
              <a:defRPr sz="1400" b="1">
                <a:solidFill>
                  <a:srgbClr val="0EA5E9"/>
                </a:solidFill>
              </a:defRPr>
            </a:pPr>
            <a:r>
              <a:t>Rule Matrix: Antecedents (Temperature, Humidity) ➔ Consequent (Compressor Speed %)</a:t>
            </a:r>
          </a:p>
          <a:p>
            <a:pPr>
              <a:spcAft>
                <a:spcPts val="1000"/>
              </a:spcAft>
              <a:defRPr sz="1300">
                <a:solidFill>
                  <a:srgbClr val="F8FAFC"/>
                </a:solidFill>
                <a:latin typeface="Courier New"/>
              </a:defRPr>
            </a:pPr>
            <a:r>
              <a:t>┌──────────────┬──────────────────┬──────────────────┬──────────────────┐</a:t>
            </a:r>
            <a:br/>
            <a:r>
              <a:t>│ Temperature  │  Low Humidity    │ Normal Humidity  │  High Humidity   │</a:t>
            </a:r>
            <a:br/>
            <a:r>
              <a:t>├──────────────┼──────────────────┼──────────────────┼──────────────────┤</a:t>
            </a:r>
            <a:br/>
            <a:r>
              <a:t>│ Very Cold    │  Off (0%)        │ Off (0%)         │ Very Low (15%)   │</a:t>
            </a:r>
            <a:br/>
            <a:r>
              <a:t>│ Cold         │  Off (0%)        │ Very Low (15%)   │ Low (35%)        │</a:t>
            </a:r>
            <a:br/>
            <a:r>
              <a:t>│ Optimal      │  Very Low (15%)  │ Low (35%)        │ Medium (55%)     │</a:t>
            </a:r>
            <a:br/>
            <a:r>
              <a:t>│ Warm         │  Medium (55%)    │ High (75%)       │ High (75%)       │</a:t>
            </a:r>
            <a:br/>
            <a:r>
              <a:t>│ Hot          │  High (75%)      │ Maximum (95%)    │ Maximum (100%)   │</a:t>
            </a:r>
            <a:br/>
            <a:r>
              <a:t>└──────────────┴──────────────────┴──────────────────┴──────────────────┘</a:t>
            </a:r>
          </a:p>
          <a:p>
            <a:pPr>
              <a:defRPr sz="1300">
                <a:solidFill>
                  <a:srgbClr val="22C55E"/>
                </a:solidFill>
              </a:defRPr>
            </a:pPr>
            <a:r>
              <a:t>Expert Logic: Notice that when temperature is Optimal (24°C) but Humidity is High (75%), the compressor runs at Medium speed to extract moisture (dehumidification) rather than shutting 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Inference Engine &amp; Centroid Defuzzification</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200"/>
              </a:spcAft>
              <a:defRPr sz="1400">
                <a:solidFill>
                  <a:srgbClr val="F8FAFC"/>
                </a:solidFill>
              </a:defRPr>
            </a:pPr>
            <a:r>
              <a:t>•  Step 1 - Fuzzification: Extract membership degrees: μ_T_i(T_in) and μ_H_j(H_in).</a:t>
            </a:r>
          </a:p>
          <a:p>
            <a:pPr>
              <a:spcAft>
                <a:spcPts val="1200"/>
              </a:spcAft>
              <a:defRPr sz="1400">
                <a:solidFill>
                  <a:srgbClr val="F8FAFC"/>
                </a:solidFill>
              </a:defRPr>
            </a:pPr>
            <a:r>
              <a:t>•  Step 2 - Rule Antecedent Evaluation (Min T-Norm): The firing strength of rule k is: α_k = min(μ_T_i, μ_H_j).</a:t>
            </a:r>
          </a:p>
          <a:p>
            <a:pPr>
              <a:spcAft>
                <a:spcPts val="1200"/>
              </a:spcAft>
              <a:defRPr sz="1400">
                <a:solidFill>
                  <a:srgbClr val="F8FAFC"/>
                </a:solidFill>
              </a:defRPr>
            </a:pPr>
            <a:r>
              <a:t>•  Step 3 - Implication Operator (Clipping): The output membership function is clipped at level α_k: μ_C'_k(z) = min(α_k, μ_C_k(z)).</a:t>
            </a:r>
          </a:p>
          <a:p>
            <a:pPr>
              <a:spcAft>
                <a:spcPts val="1200"/>
              </a:spcAft>
              <a:defRPr sz="1400">
                <a:solidFill>
                  <a:srgbClr val="F8FAFC"/>
                </a:solidFill>
              </a:defRPr>
            </a:pPr>
            <a:r>
              <a:t>•  Step 4 - Consequent Aggregation (Max S-Norm): All fired rule consequents are combined into an aggregated fuzzy region: μ_agg(z) = max_k [ μ_C'_k(z) ].</a:t>
            </a:r>
          </a:p>
          <a:p>
            <a:pPr>
              <a:spcAft>
                <a:spcPts val="1200"/>
              </a:spcAft>
              <a:defRPr sz="1400">
                <a:solidFill>
                  <a:srgbClr val="F8FAFC"/>
                </a:solidFill>
              </a:defRPr>
            </a:pPr>
            <a:r>
              <a:t>•  Step 5 - Centroid Defuzzification (Center of Gravity - COG): z* = (∫ z · μ_agg(z) dz) / (∫ μ_agg(z) dz). This delivers a smooth, analog-equivalent command to the inverter motor drive.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3D Control Surface Response Analysis</a:t>
            </a:r>
          </a:p>
        </p:txBody>
      </p:sp>
      <p:sp>
        <p:nvSpPr>
          <p:cNvPr id="4" name="TextBox 3"/>
          <p:cNvSpPr txBox="1"/>
          <p:nvPr/>
        </p:nvSpPr>
        <p:spPr>
          <a:xfrm>
            <a:off x="731520" y="1463040"/>
            <a:ext cx="5029200" cy="4754880"/>
          </a:xfrm>
          <a:prstGeom prst="rect">
            <a:avLst/>
          </a:prstGeom>
          <a:noFill/>
        </p:spPr>
        <p:txBody>
          <a:bodyPr wrap="square">
            <a:spAutoFit/>
          </a:bodyPr>
          <a:lstStyle/>
          <a:p/>
          <a:p>
            <a:pPr>
              <a:spcAft>
                <a:spcPts val="1400"/>
              </a:spcAft>
              <a:defRPr sz="1400">
                <a:solidFill>
                  <a:srgbClr val="F8FAFC"/>
                </a:solidFill>
              </a:defRPr>
            </a:pPr>
            <a:r>
              <a:t>• Non-Linear Control Landscape: The 3D surface demonstrates how compressor speed varies smoothly across the entire 2D operating envelope of temperature and humidity.</a:t>
            </a:r>
          </a:p>
          <a:p>
            <a:pPr>
              <a:spcAft>
                <a:spcPts val="1400"/>
              </a:spcAft>
              <a:defRPr sz="1400">
                <a:solidFill>
                  <a:srgbClr val="F8FAFC"/>
                </a:solidFill>
              </a:defRPr>
            </a:pPr>
            <a:r>
              <a:t>• No Discontinuous Steps: Unlike on-off thermostats that jump discontinuously between 0% and 100%, the fuzzy surface is globally smooth, ensuring no mechanical stress or audible noise.</a:t>
            </a:r>
          </a:p>
          <a:p>
            <a:pPr>
              <a:spcAft>
                <a:spcPts val="1400"/>
              </a:spcAft>
              <a:defRPr sz="1400">
                <a:solidFill>
                  <a:srgbClr val="F8FAFC"/>
                </a:solidFill>
              </a:defRPr>
            </a:pPr>
            <a:r>
              <a:t>• Dual Sensitivity: Gradient is steepest along the temperature axis (primary sensible heat), with a continuous positive slope along the humidity axis (secondary latent heat).</a:t>
            </a:r>
          </a:p>
        </p:txBody>
      </p:sp>
      <p:pic>
        <p:nvPicPr>
          <p:cNvPr id="5" name="Picture 4" descr="control_surface_3d.png"/>
          <p:cNvPicPr>
            <a:picLocks noChangeAspect="1"/>
          </p:cNvPicPr>
          <p:nvPr/>
        </p:nvPicPr>
        <p:blipFill>
          <a:blip r:embed="rId2"/>
          <a:stretch>
            <a:fillRect/>
          </a:stretch>
        </p:blipFill>
        <p:spPr>
          <a:xfrm>
            <a:off x="5943600" y="1371600"/>
            <a:ext cx="5669280" cy="3685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24-Hour Dynamic Simulation: FLC vs. Bang-Bang vs. PID</a:t>
            </a:r>
          </a:p>
        </p:txBody>
      </p:sp>
      <p:sp>
        <p:nvSpPr>
          <p:cNvPr id="4" name="TextBox 3"/>
          <p:cNvSpPr txBox="1"/>
          <p:nvPr/>
        </p:nvSpPr>
        <p:spPr>
          <a:xfrm>
            <a:off x="731520" y="1463040"/>
            <a:ext cx="5029200" cy="4754880"/>
          </a:xfrm>
          <a:prstGeom prst="rect">
            <a:avLst/>
          </a:prstGeom>
          <a:noFill/>
        </p:spPr>
        <p:txBody>
          <a:bodyPr wrap="square">
            <a:spAutoFit/>
          </a:bodyPr>
          <a:lstStyle/>
          <a:p/>
          <a:p>
            <a:pPr>
              <a:spcAft>
                <a:spcPts val="1000"/>
              </a:spcAft>
              <a:defRPr sz="1300">
                <a:solidFill>
                  <a:srgbClr val="F8FAFC"/>
                </a:solidFill>
              </a:defRPr>
            </a:pPr>
            <a:r>
              <a:t>• Experimental Setup: 50 m³ residential room model simulated under a hot tropical ambient profile (26°C night to 36°C afternoon peak).</a:t>
            </a:r>
          </a:p>
          <a:p>
            <a:pPr>
              <a:spcAft>
                <a:spcPts val="1000"/>
              </a:spcAft>
              <a:defRPr sz="1300">
                <a:solidFill>
                  <a:srgbClr val="F8FAFC"/>
                </a:solidFill>
              </a:defRPr>
            </a:pPr>
            <a:r>
              <a:t>• Thermal Comfort Tracking: • Bang-Bang oscillates between 23°C and 25°C.</a:t>
            </a:r>
            <a:br/>
            <a:r>
              <a:t>• Fuzzy FLC maintains stable comfort around target 24°C.</a:t>
            </a:r>
            <a:br/>
            <a:r>
              <a:t>• FLC standard deviation = 0.69°C vs Bang-Bang = 1.11°C.</a:t>
            </a:r>
          </a:p>
          <a:p>
            <a:pPr>
              <a:spcAft>
                <a:spcPts val="1000"/>
              </a:spcAft>
              <a:defRPr sz="1300">
                <a:solidFill>
                  <a:srgbClr val="F8FAFC"/>
                </a:solidFill>
              </a:defRPr>
            </a:pPr>
            <a:r>
              <a:t>• Compressor Wear Reduction: Bang-Bang underwent repeated on/off cycling under thermal load; FLC runs at modulated lower speeds, eliminating in-rush start currents.</a:t>
            </a:r>
          </a:p>
        </p:txBody>
      </p:sp>
      <p:pic>
        <p:nvPicPr>
          <p:cNvPr id="5" name="Picture 4" descr="energy_savings_comparison.png"/>
          <p:cNvPicPr>
            <a:picLocks noChangeAspect="1"/>
          </p:cNvPicPr>
          <p:nvPr/>
        </p:nvPicPr>
        <p:blipFill>
          <a:blip r:embed="rId2"/>
          <a:stretch>
            <a:fillRect/>
          </a:stretch>
        </p:blipFill>
        <p:spPr>
          <a:xfrm>
            <a:off x="5943600" y="1371600"/>
            <a:ext cx="5669280" cy="386541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Quantitative Energy &amp; Performance Metrics</a:t>
            </a:r>
          </a:p>
        </p:txBody>
      </p:sp>
      <p:sp>
        <p:nvSpPr>
          <p:cNvPr id="4" name="TextBox 3"/>
          <p:cNvSpPr txBox="1"/>
          <p:nvPr/>
        </p:nvSpPr>
        <p:spPr>
          <a:xfrm>
            <a:off x="731520" y="1463040"/>
            <a:ext cx="10698480" cy="4754880"/>
          </a:xfrm>
          <a:prstGeom prst="rect">
            <a:avLst/>
          </a:prstGeom>
          <a:noFill/>
        </p:spPr>
        <p:txBody>
          <a:bodyPr wrap="square">
            <a:spAutoFit/>
          </a:bodyPr>
          <a:lstStyle/>
          <a:p>
            <a:pPr>
              <a:spcAft>
                <a:spcPts val="1400"/>
              </a:spcAft>
              <a:defRPr sz="1200">
                <a:solidFill>
                  <a:srgbClr val="F8FAFC"/>
                </a:solidFill>
                <a:latin typeface="Courier New"/>
              </a:defRPr>
            </a:pPr>
            <a:r>
              <a:t>┌─────────────────────────────────────┬──────────────────┬──────────────────┬──────────────────┐</a:t>
            </a:r>
            <a:br/>
            <a:r>
              <a:t>│ Performance Metric                  │ Bang-Bang (On/Off│ Standard PID     │ Fuzzy Logic (FLC)│</a:t>
            </a:r>
            <a:br/>
            <a:r>
              <a:t>├─────────────────────────────────────┼──────────────────┼──────────────────┼──────────────────┤</a:t>
            </a:r>
            <a:br/>
            <a:r>
              <a:t>│ 24-Hour Total Energy Consumption    │ 23.79 kWh        │ 17.26 kWh        │ 18.03 kWh        │</a:t>
            </a:r>
            <a:br/>
            <a:r>
              <a:t>│ Relative Energy Savings vs On-Off   │ Baseline (0.0%)  │ 27.4%            │ 24.2%            │</a:t>
            </a:r>
            <a:br/>
            <a:r>
              <a:t>│ Temperature Stability (Std Dev)     │ ± 1.109 °C       │ ± 0.562 °C       │ ± 0.693 °C       │</a:t>
            </a:r>
            <a:br/>
            <a:r>
              <a:t>│ Peak Temperature Overshoot          │ + 1.85 °C        │ + 0.92 °C        │ + 0.41 °C        │</a:t>
            </a:r>
            <a:br/>
            <a:r>
              <a:t>│ Mechanical Cycling (Start/Stops)    │ High (Periodic)  │ Zero (Modulated) │ Zero (Modulated) │</a:t>
            </a:r>
            <a:br/>
            <a:r>
              <a:t>│ Humidity Compensation               │ None (Blind)     │ Complex to tune  │ Native / Natural │</a:t>
            </a:r>
            <a:br/>
            <a:r>
              <a:t>└─────────────────────────────────────┴──────────────────┴──────────────────┴──────────────────┘</a:t>
            </a:r>
          </a:p>
          <a:p>
            <a:pPr>
              <a:defRPr sz="1400">
                <a:solidFill>
                  <a:srgbClr val="22C55E"/>
                </a:solidFill>
              </a:defRPr>
            </a:pPr>
            <a:r>
              <a:t>Key Takeaway: The Fuzzy Logic Controller achieves over 24% energy reduction compared to standard thermostats while eliminating the rigorous mathematical plant modeling and parameter retuning required by PID controllers.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Hardware &amp; Edge AI Implementation Considerations</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400"/>
              </a:spcAft>
              <a:defRPr sz="1400">
                <a:solidFill>
                  <a:srgbClr val="F8FAFC"/>
                </a:solidFill>
              </a:defRPr>
            </a:pPr>
            <a:r>
              <a:t>•  Microcontroller Target: Can run on low-cost 8-bit or 32-bit MCUs (ESP32, STM32, Arduino) requiring less than 8 KB of Flash memory and 1 KB of RAM.</a:t>
            </a:r>
          </a:p>
          <a:p>
            <a:pPr>
              <a:spcAft>
                <a:spcPts val="1400"/>
              </a:spcAft>
              <a:defRPr sz="1400">
                <a:solidFill>
                  <a:srgbClr val="F8FAFC"/>
                </a:solidFill>
              </a:defRPr>
            </a:pPr>
            <a:r>
              <a:t>•  Lookup Table (LUT) Acceleration: Pre-computing the 3D control surface into an 2D array of discrete values enables sub-millisecond execution with zero floating-point overhead.</a:t>
            </a:r>
          </a:p>
          <a:p>
            <a:pPr>
              <a:spcAft>
                <a:spcPts val="1400"/>
              </a:spcAft>
              <a:defRPr sz="1400">
                <a:solidFill>
                  <a:srgbClr val="F8FAFC"/>
                </a:solidFill>
              </a:defRPr>
            </a:pPr>
            <a:r>
              <a:t>•  IoT Integration (MQTT &amp; Smart Home): ESP32 Wi-Fi module connects to MQTT broker / Home Assistant, allowing adaptive user preferences, occupancy sensing via PIR/radar, and time-of-use energy tariffs.</a:t>
            </a:r>
          </a:p>
          <a:p>
            <a:pPr>
              <a:spcAft>
                <a:spcPts val="1400"/>
              </a:spcAft>
              <a:defRPr sz="1400">
                <a:solidFill>
                  <a:srgbClr val="F8FAFC"/>
                </a:solidFill>
              </a:defRPr>
            </a:pPr>
            <a:r>
              <a:t>•  Fault Tolerance &amp; Sensor Drift: Fuzzy sets degrade gracefully: minor sensor noise or ±0.5°C drift causes only slight continuous adjustments rather than abrupt switching.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Hybrid Soft Computing Extensions: ANFIS &amp; GA-FLC</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400"/>
              </a:spcAft>
              <a:defRPr sz="1400">
                <a:solidFill>
                  <a:srgbClr val="F8FAFC"/>
                </a:solidFill>
              </a:defRPr>
            </a:pPr>
            <a:r>
              <a:t>•  Adaptive Neuro-Fuzzy Inference Systems (ANFIS): Combining neural learning with fuzzy interpretability. Backpropagation can fine-tune the membership parameters (a, b, c) from real occupant feedback data.</a:t>
            </a:r>
          </a:p>
          <a:p>
            <a:pPr>
              <a:spcAft>
                <a:spcPts val="1400"/>
              </a:spcAft>
              <a:defRPr sz="1400">
                <a:solidFill>
                  <a:srgbClr val="F8FAFC"/>
                </a:solidFill>
              </a:defRPr>
            </a:pPr>
            <a:r>
              <a:t>•  Genetic Algorithm Optimization of Rule Weights (GA-FLC): Genetic Algorithms can optimize the 27-rule consequence weights to maximize energy savings while penalizing comfort violations under Pareto multi-objective fitness.</a:t>
            </a:r>
          </a:p>
          <a:p>
            <a:pPr>
              <a:spcAft>
                <a:spcPts val="1400"/>
              </a:spcAft>
              <a:defRPr sz="1400">
                <a:solidFill>
                  <a:srgbClr val="F8FAFC"/>
                </a:solidFill>
              </a:defRPr>
            </a:pPr>
            <a:r>
              <a:t>•  Predictive Pre-Cooling: Incorporating weather forecast neural networks to pre-cool the building during off-peak solar/grid tariff windows.</a:t>
            </a:r>
          </a:p>
          <a:p>
            <a:pPr>
              <a:spcAft>
                <a:spcPts val="1400"/>
              </a:spcAft>
              <a:defRPr sz="1400">
                <a:solidFill>
                  <a:srgbClr val="F8FAFC"/>
                </a:solidFill>
              </a:defRPr>
            </a:pPr>
            <a:r>
              <a:t>•  Multi-Zone HVAC Coordination: Extending the single-room controller to a distributed multi-agent system coordinating airflow across multiple building zones.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Conclusions &amp; Key Findings</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1600"/>
              </a:spcAft>
              <a:defRPr sz="1500">
                <a:solidFill>
                  <a:srgbClr val="F8FAFC"/>
                </a:solidFill>
              </a:defRPr>
            </a:pPr>
            <a:r>
              <a:t>•  Robust Non-Linear Modeling: Fuzzy logic successfully addresses the complex interplay of ambient temperature and relative humidity without requiring explicit differential equations of the room thermal physics.</a:t>
            </a:r>
          </a:p>
          <a:p>
            <a:pPr>
              <a:spcAft>
                <a:spcPts val="1600"/>
              </a:spcAft>
              <a:defRPr sz="1500">
                <a:solidFill>
                  <a:srgbClr val="F8FAFC"/>
                </a:solidFill>
              </a:defRPr>
            </a:pPr>
            <a:r>
              <a:t>•  Significant Energy Efficiency: Achieved 24.2% electrical energy reduction compared to classical on-off thermostat controllers over a 24-hour diurnal cycle.</a:t>
            </a:r>
          </a:p>
          <a:p>
            <a:pPr>
              <a:spcAft>
                <a:spcPts val="1600"/>
              </a:spcAft>
              <a:defRPr sz="1500">
                <a:solidFill>
                  <a:srgbClr val="F8FAFC"/>
                </a:solidFill>
              </a:defRPr>
            </a:pPr>
            <a:r>
              <a:t>•  Superior Human Comfort: Maintained indoor temperature within ±0.69°C of setpoint with smooth modulation and zero abrupt cycling.</a:t>
            </a:r>
          </a:p>
          <a:p>
            <a:pPr>
              <a:spcAft>
                <a:spcPts val="1600"/>
              </a:spcAft>
              <a:defRPr sz="1500">
                <a:solidFill>
                  <a:srgbClr val="F8FAFC"/>
                </a:solidFill>
              </a:defRPr>
            </a:pPr>
            <a:r>
              <a:t>•  Industrial Readiness: Low computational footprint suitable for direct deployment on low-cost edge microcontrollers in commercial inverter HVAC systems.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 COMPUTING (STDA2102) | CASE STUDY</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References &amp; Question &amp; Answer Session</a:t>
            </a:r>
          </a:p>
        </p:txBody>
      </p:sp>
      <p:sp>
        <p:nvSpPr>
          <p:cNvPr id="4" name="TextBox 3"/>
          <p:cNvSpPr txBox="1"/>
          <p:nvPr/>
        </p:nvSpPr>
        <p:spPr>
          <a:xfrm>
            <a:off x="731520" y="1463040"/>
            <a:ext cx="10698480" cy="4754880"/>
          </a:xfrm>
          <a:prstGeom prst="rect">
            <a:avLst/>
          </a:prstGeom>
          <a:noFill/>
        </p:spPr>
        <p:txBody>
          <a:bodyPr wrap="square">
            <a:spAutoFit/>
          </a:bodyPr>
          <a:lstStyle/>
          <a:p/>
          <a:p>
            <a:pPr>
              <a:spcAft>
                <a:spcPts val="800"/>
              </a:spcAft>
              <a:defRPr sz="1300">
                <a:solidFill>
                  <a:srgbClr val="94A3B8"/>
                </a:solidFill>
              </a:defRPr>
            </a:pPr>
            <a:r>
              <a:t>1. L. A. Zadeh, 'Fuzzy sets,' Information and Control, vol. 8, no. 3, pp. 338–353, 1965.</a:t>
            </a:r>
          </a:p>
          <a:p>
            <a:pPr>
              <a:spcAft>
                <a:spcPts val="800"/>
              </a:spcAft>
              <a:defRPr sz="1300">
                <a:solidFill>
                  <a:srgbClr val="94A3B8"/>
                </a:solidFill>
              </a:defRPr>
            </a:pPr>
            <a:r>
              <a:t>2. E. H. Mamdani and S. Assilian, 'An experiment in linguistic synthesis with a fuzzy logic controller,' Int. J. Man-Machine Studies, vol. 7, no. 1, pp. 1–13, 1975.</a:t>
            </a:r>
          </a:p>
          <a:p>
            <a:pPr>
              <a:spcAft>
                <a:spcPts val="800"/>
              </a:spcAft>
              <a:defRPr sz="1300">
                <a:solidFill>
                  <a:srgbClr val="94A3B8"/>
                </a:solidFill>
              </a:defRPr>
            </a:pPr>
            <a:r>
              <a:t>3. T. J. Ross, Fuzzy Logic with Engineering Applications, 4th ed., John Wiley &amp; Sons, 2016.</a:t>
            </a:r>
          </a:p>
          <a:p>
            <a:pPr>
              <a:spcAft>
                <a:spcPts val="800"/>
              </a:spcAft>
              <a:defRPr sz="1300">
                <a:solidFill>
                  <a:srgbClr val="94A3B8"/>
                </a:solidFill>
              </a:defRPr>
            </a:pPr>
            <a:r>
              <a:t>4. S. Rajasekaran and G. A. V. Pai, Neural Networks, Fuzzy Logic and Genetic Algorithms: Synthesis and Applications, PHI Learning, 2003.</a:t>
            </a:r>
          </a:p>
          <a:p>
            <a:pPr>
              <a:spcAft>
                <a:spcPts val="800"/>
              </a:spcAft>
              <a:defRPr sz="1300">
                <a:solidFill>
                  <a:srgbClr val="94A3B8"/>
                </a:solidFill>
              </a:defRPr>
            </a:pPr>
            <a:r>
              <a:t>5. ASHRAE Standard 55-2020: Thermal Environmental Conditions for Human Occupancy, Atlanta: ASHRAE, 2020.</a:t>
            </a:r>
          </a:p>
          <a:p>
            <a:pPr>
              <a:spcAft>
                <a:spcPts val="800"/>
              </a:spcAft>
              <a:defRPr sz="1300">
                <a:solidFill>
                  <a:srgbClr val="94A3B8"/>
                </a:solidFill>
              </a:defRPr>
            </a:pPr>
            <a:r>
              <a:t>6. J.-S. R. Jang, C.-T. Sun, and E. Mizutani, Neuro-Fuzzy and Soft Computing, Prentice Hall, 1997.</a:t>
            </a:r>
          </a:p>
          <a:p>
            <a:br/>
            <a:pPr>
              <a:defRPr sz="1800" b="1">
                <a:solidFill>
                  <a:srgbClr val="0EA5E9"/>
                </a:solidFill>
              </a:defRPr>
            </a:pPr>
            <a:r>
              <a:t>Thank you! Questions and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